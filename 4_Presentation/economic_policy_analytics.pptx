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Outcome Lift (treated vs control)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Economic
Stimulus</c:v>
                  </c:pt>
                  <c:pt idx="1">
                    <c:v>Education
Subsidy</c:v>
                  </c:pt>
                  <c:pt idx="2">
                    <c:v>Infrastructure
Spending</c:v>
                  </c:pt>
                  <c:pt idx="3">
                    <c:v>Job
Training</c:v>
                  </c:pt>
                  <c:pt idx="4">
                    <c:v>Tax
Incentive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142.6</c:v>
                </c:pt>
                <c:pt idx="1">
                  <c:v>93.1</c:v>
                </c:pt>
                <c:pt idx="2">
                  <c:v>129</c:v>
                </c:pt>
                <c:pt idx="3">
                  <c:v>103.2</c:v>
                </c:pt>
                <c:pt idx="4">
                  <c:v>114.2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Policy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Employment Rate</c:v>
                  </c:pt>
                  <c:pt idx="1">
                    <c:v>Consumer Confidence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117.77</c:v>
                </c:pt>
                <c:pt idx="1">
                  <c:v>50.15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Stimulus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Employment Rate</c:v>
                  </c:pt>
                  <c:pt idx="1">
                    <c:v>Consumer Confidence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260.36</c:v>
                </c:pt>
                <c:pt idx="1">
                  <c:v>55.06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EAF4F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E2E8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Graduation Rate</c:v>
                  </c:pt>
                  <c:pt idx="1">
                    <c:v>Enrollment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117.85</c:v>
                </c:pt>
                <c:pt idx="1">
                  <c:v>50.27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Subsidy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Graduation Rate</c:v>
                  </c:pt>
                  <c:pt idx="1">
                    <c:v>Enrollment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210.96</c:v>
                </c:pt>
                <c:pt idx="1">
                  <c:v>50.8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E2E8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Employment Growth</c:v>
                  </c:pt>
                  <c:pt idx="1">
                    <c:v>Employer Confidence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117.09</c:v>
                </c:pt>
                <c:pt idx="1">
                  <c:v>49.82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Training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Employment Growth</c:v>
                  </c:pt>
                  <c:pt idx="1">
                    <c:v>Employer Confidence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220.32</c:v>
                </c:pt>
                <c:pt idx="1">
                  <c:v>50.63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BEE3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Investment Return</c:v>
                  </c:pt>
                  <c:pt idx="1">
                    <c:v>Construction Activity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117.53</c:v>
                </c:pt>
                <c:pt idx="1">
                  <c:v>50.06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Spend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Investment Return</c:v>
                  </c:pt>
                  <c:pt idx="1">
                    <c:v>Construction Activity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246.52</c:v>
                </c:pt>
                <c:pt idx="1">
                  <c:v>50.82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FA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EAF4F4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FCA5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Sales Growth</c:v>
                  </c:pt>
                  <c:pt idx="1">
                    <c:v>Consumer Spending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117.7</c:v>
                </c:pt>
                <c:pt idx="1">
                  <c:v>50.13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Incentive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Sales Growth</c:v>
                  </c:pt>
                  <c:pt idx="1">
                    <c:v>Consumer Spending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231.87</c:v>
                </c:pt>
                <c:pt idx="1">
                  <c:v>51.11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CE7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EAF4F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0584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Policy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Analytics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029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Across 5 Policy Interventions  |  n=500 per study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457200"/>
            <a:ext cx="1463040" cy="4206240"/>
          </a:xfrm>
          <a:prstGeom prst="rect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28016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</a:rPr>
              <a:t>5
</a:t>
            </a:r>
            <a:endParaRPr lang="en-US" sz="5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Policies</a:t>
            </a:r>
            <a:endParaRPr lang="en-US" sz="5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Analyzed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·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Portfolio: Primary Outcome Lifts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84124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Average treatment effect (ATE) — treated minus control group mean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Economic Stimulus Policy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011680" cy="822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144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+142.6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28600" y="1691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Employment Lift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9933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treated vs control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41448" y="82296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41448" y="822960"/>
            <a:ext cx="2011680" cy="822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441448" y="9144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+4.9 pts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41448" y="1691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Consumer Confidence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41448" y="19933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treated vs control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54296" y="82296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54296" y="822960"/>
            <a:ext cx="2011680" cy="822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654296" y="9144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+0.05%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54296" y="1691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Econ. Growth 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54296" y="19933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baseline adj.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67144" y="82296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67144" y="822960"/>
            <a:ext cx="2011680" cy="822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144" y="9144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50.8%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67144" y="1691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Treatment Rate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67144" y="19933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of observations</a:t>
            </a:r>
            <a:endParaRPr lang="en-US" sz="9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28600" y="2423160"/>
          <a:ext cx="86868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&amp; 03  Education Subsidy &amp; Job Training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1480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7772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Education Subsidy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28600" y="118872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800600" y="777240"/>
            <a:ext cx="4114800" cy="38404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5"/>
          <p:cNvSpPr/>
          <p:nvPr/>
        </p:nvSpPr>
        <p:spPr>
          <a:xfrm>
            <a:off x="4800600" y="7772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Job Training Program</a:t>
            </a:r>
            <a:endParaRPr lang="en-US" sz="14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800600" y="118872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4572000" y="777240"/>
            <a:ext cx="0" cy="4114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&amp; 05  Infrastructure Spending &amp; Tax Incentive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14800" cy="3840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7772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Infrastructure Spending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28600" y="118872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800600" y="777240"/>
            <a:ext cx="4114800" cy="38404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8" name="Text 5"/>
          <p:cNvSpPr/>
          <p:nvPr/>
        </p:nvSpPr>
        <p:spPr>
          <a:xfrm>
            <a:off x="4800600" y="7772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Tax Incentive Policy</a:t>
            </a:r>
            <a:endParaRPr lang="en-US" sz="14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800600" y="118872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4572000" y="777240"/>
            <a:ext cx="0" cy="411480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32104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058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1005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Economic Stimulus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0058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Strongest employment lift: +142.6 units. High consumer confidence signal.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8321040" cy="6858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80136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18013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Infrastructure Spend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180136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Second-highest return on investment: +129.0. Long-term capacity building.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551176"/>
            <a:ext cx="832104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596896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259689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Tax Incentive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2596896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Sales growth +114.2 — fast-acting consumer-side lever.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46704"/>
            <a:ext cx="8321040" cy="6858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392424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339242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Job Training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3392424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Employment growth +103.2 with confidence uplift. Builds structural labor capacity.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142232"/>
            <a:ext cx="832104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18795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43000" y="418795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Education Subsidy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0" y="4187952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Graduation rate +93.1. Lagging but high-impact for long-run productivity.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Data: 500 obs/policy · Causal Inference &amp; ML Framework · opencampus.sh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Policy Impact Analytics</dc:title>
  <dc:subject>PptxGenJS Presentation</dc:subject>
  <dc:creator>PptxGenJS</dc:creator>
  <cp:lastModifiedBy>PptxGenJS</cp:lastModifiedBy>
  <cp:revision>1</cp:revision>
  <dcterms:created xsi:type="dcterms:W3CDTF">2026-06-01T17:03:42Z</dcterms:created>
  <dcterms:modified xsi:type="dcterms:W3CDTF">2026-06-01T17:03:42Z</dcterms:modified>
</cp:coreProperties>
</file>